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b49b0c341431e" /><Relationship Type="http://schemas.openxmlformats.org/officeDocument/2006/relationships/extended-properties" Target="/docProps/app.xml" Id="Rce983b4d0a0d4475" /><Relationship Type="http://schemas.openxmlformats.org/officeDocument/2006/relationships/officeDocument" Target="/ppt/presentation.xml" Id="R3ed8ab6bac6546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c928574f74970"/>
  </p:sldMasterIdLst>
  <p:notesMasterIdLst>
    <p:notesMasterId xmlns:r="http://schemas.openxmlformats.org/officeDocument/2006/relationships" r:id="R9817b4e631ec413c"/>
  </p:notesMasterIdLst>
  <p:sldIdLst>
    <p:sldId xmlns:r="http://schemas.openxmlformats.org/officeDocument/2006/relationships" id="256" r:id="R054adf12f6d0463a"/>
    <p:sldId xmlns:r="http://schemas.openxmlformats.org/officeDocument/2006/relationships" id="257" r:id="R97a0be2e3448468b"/>
    <p:sldId xmlns:r="http://schemas.openxmlformats.org/officeDocument/2006/relationships" id="258" r:id="Rdbc9f91717c74503"/>
    <p:sldId xmlns:r="http://schemas.openxmlformats.org/officeDocument/2006/relationships" id="259" r:id="R11a00faf894f41a3"/>
    <p:sldId xmlns:r="http://schemas.openxmlformats.org/officeDocument/2006/relationships" id="260" r:id="Rfea57731f0154ee7"/>
    <p:sldId xmlns:r="http://schemas.openxmlformats.org/officeDocument/2006/relationships" id="261" r:id="Re35083eadcaa447a"/>
    <p:sldId xmlns:r="http://schemas.openxmlformats.org/officeDocument/2006/relationships" id="262" r:id="R45f5ecb45ede4875"/>
    <p:sldId xmlns:r="http://schemas.openxmlformats.org/officeDocument/2006/relationships" id="263" r:id="Rd1d859dfb6f24c85"/>
    <p:sldId xmlns:r="http://schemas.openxmlformats.org/officeDocument/2006/relationships" id="264" r:id="R6c6427dc31ad4c2a"/>
    <p:sldId xmlns:r="http://schemas.openxmlformats.org/officeDocument/2006/relationships" id="265" r:id="R272826ca961d41a6"/>
    <p:sldId xmlns:r="http://schemas.openxmlformats.org/officeDocument/2006/relationships" id="266" r:id="R3da2fb345e7e4f11"/>
    <p:sldId xmlns:r="http://schemas.openxmlformats.org/officeDocument/2006/relationships" id="267" r:id="R03da8f38d0b44f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c928574f74970" /><Relationship Type="http://schemas.openxmlformats.org/officeDocument/2006/relationships/theme" Target="/ppt/theme/theme1.xml" Id="Rb2641b761f014633" /><Relationship Type="http://schemas.openxmlformats.org/officeDocument/2006/relationships/notesMaster" Target="/ppt/notesMasters/notesMaster1.xml" Id="R9817b4e631ec413c" /><Relationship Type="http://schemas.openxmlformats.org/officeDocument/2006/relationships/presProps" Target="/ppt/presProps.xml" Id="Raa5c25fc22e6428b" /><Relationship Type="http://schemas.openxmlformats.org/officeDocument/2006/relationships/viewProps" Target="/ppt/viewProps.xml" Id="R7a74cc0075f84295" /><Relationship Type="http://schemas.openxmlformats.org/officeDocument/2006/relationships/tableStyles" Target="/ppt/tableStyles.xml" Id="R76b6fc075efa4c33" /><Relationship Type="http://schemas.openxmlformats.org/officeDocument/2006/relationships/slide" Target="/ppt/slides/slide1.xml" Id="R054adf12f6d0463a" /><Relationship Type="http://schemas.openxmlformats.org/officeDocument/2006/relationships/slide" Target="/ppt/slides/slide2.xml" Id="R97a0be2e3448468b" /><Relationship Type="http://schemas.openxmlformats.org/officeDocument/2006/relationships/slide" Target="/ppt/slides/slide3.xml" Id="Rdbc9f91717c74503" /><Relationship Type="http://schemas.openxmlformats.org/officeDocument/2006/relationships/slide" Target="/ppt/slides/slide4.xml" Id="R11a00faf894f41a3" /><Relationship Type="http://schemas.openxmlformats.org/officeDocument/2006/relationships/slide" Target="/ppt/slides/slide5.xml" Id="Rfea57731f0154ee7" /><Relationship Type="http://schemas.openxmlformats.org/officeDocument/2006/relationships/slide" Target="/ppt/slides/slide6.xml" Id="Re35083eadcaa447a" /><Relationship Type="http://schemas.openxmlformats.org/officeDocument/2006/relationships/slide" Target="/ppt/slides/slide7.xml" Id="R45f5ecb45ede4875" /><Relationship Type="http://schemas.openxmlformats.org/officeDocument/2006/relationships/slide" Target="/ppt/slides/slide8.xml" Id="Rd1d859dfb6f24c85" /><Relationship Type="http://schemas.openxmlformats.org/officeDocument/2006/relationships/slide" Target="/ppt/slides/slide9.xml" Id="R6c6427dc31ad4c2a" /><Relationship Type="http://schemas.openxmlformats.org/officeDocument/2006/relationships/slide" Target="/ppt/slides/slide10.xml" Id="R272826ca961d41a6" /><Relationship Type="http://schemas.openxmlformats.org/officeDocument/2006/relationships/slide" Target="/ppt/slides/slide11.xml" Id="R3da2fb345e7e4f11" /><Relationship Type="http://schemas.openxmlformats.org/officeDocument/2006/relationships/slide" Target="/ppt/slides/slide12.xml" Id="R03da8f38d0b44f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d488ff6620f46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8214f2c6d54f55" /><Relationship Type="http://schemas.openxmlformats.org/officeDocument/2006/relationships/notesMaster" Target="/ppt/notesMasters/notesMaster1.xml" Id="R799d4ff78ef545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3053e213584cdd" /><Relationship Type="http://schemas.openxmlformats.org/officeDocument/2006/relationships/notesMaster" Target="/ppt/notesMasters/notesMaster1.xml" Id="R89f3bbf085a143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21160623e84b30" /><Relationship Type="http://schemas.openxmlformats.org/officeDocument/2006/relationships/notesMaster" Target="/ppt/notesMasters/notesMaster1.xml" Id="R9ab84a66f2944c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0ae1f0472c41c1" /><Relationship Type="http://schemas.openxmlformats.org/officeDocument/2006/relationships/notesMaster" Target="/ppt/notesMasters/notesMaster1.xml" Id="Rda2f32e4f8da45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ccd444eca4a88" /><Relationship Type="http://schemas.openxmlformats.org/officeDocument/2006/relationships/notesMaster" Target="/ppt/notesMasters/notesMaster1.xml" Id="Racf34d701dbf4e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c2c4299b654856" /><Relationship Type="http://schemas.openxmlformats.org/officeDocument/2006/relationships/notesMaster" Target="/ppt/notesMasters/notesMaster1.xml" Id="Rb1f2f2b178f941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8af00bb33d4918" /><Relationship Type="http://schemas.openxmlformats.org/officeDocument/2006/relationships/notesMaster" Target="/ppt/notesMasters/notesMaster1.xml" Id="Rdc67cabc4c6046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6e233d4c2a4c12" /><Relationship Type="http://schemas.openxmlformats.org/officeDocument/2006/relationships/notesMaster" Target="/ppt/notesMasters/notesMaster1.xml" Id="R77031dfc10144c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9438317d5e46c5" /><Relationship Type="http://schemas.openxmlformats.org/officeDocument/2006/relationships/notesMaster" Target="/ppt/notesMasters/notesMaster1.xml" Id="R459b9e63460a4f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a8c6f68e1048bc" /><Relationship Type="http://schemas.openxmlformats.org/officeDocument/2006/relationships/notesMaster" Target="/ppt/notesMasters/notesMaster1.xml" Id="R8d2c83fc619845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949964619a4899" /><Relationship Type="http://schemas.openxmlformats.org/officeDocument/2006/relationships/notesMaster" Target="/ppt/notesMasters/notesMaster1.xml" Id="Rdf91c7bba7b64f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e1a60c89b3438d" /><Relationship Type="http://schemas.openxmlformats.org/officeDocument/2006/relationships/notesMaster" Target="/ppt/notesMasters/notesMaster1.xml" Id="R0949654c62fe40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la idea general: Spring Boot sera el backend que organiza datos, reglas de negocio, seguridad y comunicacion con el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 el alcance funcional sin entrar todavia en codigo. La audiencia debe entender que Spring no es una pantalla, sino el motor que sostiene la aplicacion.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 las capas de izquierda a derecha: frontend, controlador, servicio, repositorio, entidad y base de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esta diapositiva para narrar el camino completo de una accion: navegador, endpoint, validacion, reglas de negocio, guardado y respuesta.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 cada dependencia con una necesidad concreta del proyecto. Evita explicar Maven de forma abstracta.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 que este archivo permite cambiar el comportamiento de Spring sin tocar clases 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Indica que las anotaciones como @Entity, @Table, @Id y @Column conectan Java con MySQL.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 que Repository es la capa que habla con la base de datos. JpaRepository ya trae save, findAll, findById y deleteById.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Remarca que el controlador no deberia contener la logica importante. El servicio es donde vive la decision del negocio.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 las anotaciones principales: @RestController, @RequestMapping, @GetMapping, @PostMapping y @RequestBody.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 que los roles existen como datos iniciales, pero conviene implementar despues la relacion real usuarios-roles para que cada usuario tenga sus permisos.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Cierra la presentacion como tutorial: para anadir una funcion nueva, se repite este patron. Es la receta que deben seguir.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30110224b4be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A76D72B-851B-4A88-B34C-B1AC738F5F2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60EF7C9-DF44-40FD-A5C8-6F4BBEAC0B7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3C0F20-DF70-402E-839E-64179FBDC68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7A9D10-2F2B-47A8-BE3D-FF01EA3D5B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f18ba91123f418a" /><Relationship Type="http://schemas.openxmlformats.org/officeDocument/2006/relationships/slideLayout" Target="/ppt/slideLayouts/slideLayout2.xml" Id="R1ccb365349104a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3AAFC6-A9CC-4EC5-84D4-6C2B2014CBE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cb365349104a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423108cd24725" /><Relationship Type="http://schemas.openxmlformats.org/officeDocument/2006/relationships/notesSlide" Target="/ppt/notesSlides/notesSlide1.xml" Id="R7352b614393c46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edce7ca36241e6" /><Relationship Type="http://schemas.openxmlformats.org/officeDocument/2006/relationships/notesSlide" Target="/ppt/notesSlides/notesSlide2.xml" Id="R6ee7407ead3c47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c7306cfd884895" /><Relationship Type="http://schemas.openxmlformats.org/officeDocument/2006/relationships/notesSlide" Target="/ppt/notesSlides/notesSlide3.xml" Id="Rd37977dd536b4a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42378e4e04195" /><Relationship Type="http://schemas.openxmlformats.org/officeDocument/2006/relationships/notesSlide" Target="/ppt/notesSlides/notesSlide4.xml" Id="Ra7de6be149ad46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be546bd8164e9e" /><Relationship Type="http://schemas.openxmlformats.org/officeDocument/2006/relationships/notesSlide" Target="/ppt/notesSlides/notesSlide5.xml" Id="Rd862e15afce44e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561dda4144a13" /><Relationship Type="http://schemas.openxmlformats.org/officeDocument/2006/relationships/notesSlide" Target="/ppt/notesSlides/notesSlide6.xml" Id="Re29b28f7adf849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d7cd48b2be4a38" /><Relationship Type="http://schemas.openxmlformats.org/officeDocument/2006/relationships/notesSlide" Target="/ppt/notesSlides/notesSlide7.xml" Id="R94dce63824ca41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a77d82debe42c8" /><Relationship Type="http://schemas.openxmlformats.org/officeDocument/2006/relationships/notesSlide" Target="/ppt/notesSlides/notesSlide8.xml" Id="Rdd189da8438545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4731721ae94fb0" /><Relationship Type="http://schemas.openxmlformats.org/officeDocument/2006/relationships/notesSlide" Target="/ppt/notesSlides/notesSlide9.xml" Id="R90e1b6fcff9341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880c147e3478a" /><Relationship Type="http://schemas.openxmlformats.org/officeDocument/2006/relationships/notesSlide" Target="/ppt/notesSlides/notesSlide10.xml" Id="R0337c8ebf3d248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df5bf07f164ef6" /><Relationship Type="http://schemas.openxmlformats.org/officeDocument/2006/relationships/notesSlide" Target="/ppt/notesSlides/notesSlide11.xml" Id="R701465d84d9148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47a23dfe644aba" /><Relationship Type="http://schemas.openxmlformats.org/officeDocument/2006/relationships/notesSlide" Target="/ppt/notesSlides/notesSlide12.xml" Id="R0805943ffc2748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AB92D-6A94-4E2D-B3B9-072C1E6C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-11430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BCB47-4045-4645-81CB-75911A19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84B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BCC35-8D62-4E47-9457-3A1EC2DB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62E19-4C10-4835-B019-E2F972B8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F2D1"/>
                </a:solidFill>
              </a:defRPr>
            </a:pPr>
            <a:r>
              <a:rPr sz="1050" b="1">
                <a:solidFill>
                  <a:srgbClr val="BFF2D1"/>
                </a:solidFill>
              </a:rPr>
              <a:t>TUTORIAL SPRING BOOT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FFF2F-178A-47A5-955A-B8EA8952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752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Spring Boot en la clinica veterinaria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16B4D-F37D-4E10-89B2-3F6CA5AA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638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1F5"/>
                </a:solidFill>
              </a:defRPr>
            </a:pPr>
            <a:r>
              <a:rPr sz="1650" b="0">
                <a:solidFill>
                  <a:srgbClr val="E8F1F5"/>
                </a:solidFill>
              </a:rPr>
              <a:t>Que vamos a construir, que piezas vamos a usar y como se conectan en nuestro proyecto.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26C47-9A6A-491F-8031-E95418E8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05300"/>
            <a:ext cx="4191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1430">
            <a:solidFill>
              <a:srgbClr val="BFF2D1">
                <a:alpha val="3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841AB-2434-42AD-B168-C1F25EB4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F2D1"/>
                </a:solidFill>
              </a:defRPr>
            </a:pPr>
            <a:r>
              <a:rPr sz="1050" b="1">
                <a:solidFill>
                  <a:srgbClr val="BFF2D1"/>
                </a:solidFill>
              </a:rPr>
              <a:t>Idea clave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28FA1-9009-446C-B4FD-DCEB1104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Spring Boot ordena el backend en piezas pequenas que trabajan juntas.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2C970-AD22-44D4-9C10-EA1F6E1B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90650"/>
            <a:ext cx="2381250" cy="3238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8F3">
              <a:alpha val="10196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6DE75-22C4-4885-86B8-8D31F8F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29E15-87D2-4ACB-A46B-19B087F7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02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22C"/>
                </a:solidFill>
              </a:defRPr>
            </a:pPr>
            <a:r>
              <a:rPr sz="1050" b="1">
                <a:solidFill>
                  <a:srgbClr val="10222C"/>
                </a:solidFill>
              </a:rPr>
              <a:t>Controller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45868-BDC6-4D68-85BC-583A82DE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5742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9A62F-66FE-4DED-BFFA-32167BB3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22C"/>
                </a:solidFill>
              </a:defRPr>
            </a:pPr>
            <a:r>
              <a:rPr sz="1050" b="1">
                <a:solidFill>
                  <a:srgbClr val="10222C"/>
                </a:solidFill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8CA6C-8E50-4234-84EC-F3FA16E7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5FDFF-A767-4283-832B-372C541A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479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22C"/>
                </a:solidFill>
              </a:defRPr>
            </a:pPr>
            <a:r>
              <a:rPr sz="1050" b="1">
                <a:solidFill>
                  <a:srgbClr val="10222C"/>
                </a:solidFill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03FFF-6E08-4C63-84B3-92BC1256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0517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FCC7F-D855-4529-B425-11043E33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22C"/>
                </a:solidFill>
              </a:defRPr>
            </a:pPr>
            <a:r>
              <a:rPr sz="1050" b="1">
                <a:solidFill>
                  <a:srgbClr val="10222C"/>
                </a:solidFill>
              </a:rPr>
              <a:t>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1C3CB-863B-4E37-9113-EA2BB21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B8CDC-40D6-45A3-A738-8CE26446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957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22C"/>
                </a:solidFill>
              </a:defRPr>
            </a:pPr>
            <a:r>
              <a:rPr sz="1050" b="1">
                <a:solidFill>
                  <a:srgbClr val="10222C"/>
                </a:solidFill>
              </a:rPr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1245262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DA877-224D-4773-BB70-9D4225A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7D912-30E1-4172-BAC7-03CEDAFD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A816E-8ACD-453A-B765-00CA3A1A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2A742-D072-463F-B96C-5A8BA1C1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5DF7-260D-411D-BB4A-9097A94F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02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5795F-D2E1-496D-A898-1AAB7E2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30A08-CDBE-4A63-9E8D-60FE1598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Que vamos a construir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5B117-F296-456F-B701-4722D96E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Una aplicacion web para gestionar el dia a dia de una clinica veterinaria.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DBE6B-B806-42A8-8B7D-2D3EDF5E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3276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29737-1698-4F3E-B625-DF595CA2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7F424-5566-4A19-9A3B-6595F58D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>
              <a:alpha val="13333"/>
            </a:srgbClr>
          </a:solidFill>
          <a:ln xmlns:a="http://schemas.openxmlformats.org/drawingml/2006/main" w="13335">
            <a:solidFill>
              <a:srgbClr val="37A8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40FB0-C8DE-4824-A24A-AE1FBCC2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19EF8-00DB-438F-80C5-E370995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A866"/>
                </a:solidFill>
              </a:defRPr>
            </a:pPr>
            <a:r>
              <a:rPr sz="1200" b="1">
                <a:solidFill>
                  <a:srgbClr val="37A866"/>
                </a:solidFill>
              </a:rPr>
              <a:t>Usuarios y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56D28-94FC-4C23-8D8E-F0CCB7CB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Admin, auxiliar, veterinario y cliente con acceso diferenciado.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EB42B-9926-4E2D-AF09-648DF3AA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276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C41CC-FFF4-49CD-87DF-212DB0A5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6B45D-E76B-427B-B5FE-DFAB732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0">
              <a:alpha val="13333"/>
            </a:srgbClr>
          </a:solidFill>
          <a:ln xmlns:a="http://schemas.openxmlformats.org/drawingml/2006/main" w="13335">
            <a:solidFill>
              <a:srgbClr val="245A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0B67C-44B7-4DE7-89F2-5B1566E6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5F5F3-6C71-4C0E-90C0-89257CCE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A70"/>
                </a:solidFill>
              </a:defRPr>
            </a:pPr>
            <a:r>
              <a:rPr sz="1200" b="1">
                <a:solidFill>
                  <a:srgbClr val="245A70"/>
                </a:solidFill>
              </a:rPr>
              <a:t>Gestion clinica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2BC3A-D5A7-41EC-B37E-74880A0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Clientes, mascotas, citas, admisiones, consultas, recetas y pagos.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12F33-AEA2-4695-AFC7-EFCAA5FB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276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8C708-B68D-40E2-AC90-9AC16BBB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BABBA-37AE-4191-AAEE-0CD05C05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B55">
              <a:alpha val="13333"/>
            </a:srgbClr>
          </a:solidFill>
          <a:ln xmlns:a="http://schemas.openxmlformats.org/drawingml/2006/main" w="13335">
            <a:solidFill>
              <a:srgbClr val="E66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5A280-ADE3-45E1-8BA0-1B543507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07FA8-40D1-4864-9381-3AE9CF46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6B55"/>
                </a:solidFill>
              </a:defRPr>
            </a:pPr>
            <a:r>
              <a:rPr sz="1200" b="1">
                <a:solidFill>
                  <a:srgbClr val="E66B55"/>
                </a:solidFill>
              </a:rPr>
              <a:t>Base de datos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A356E-9145-47D5-8585-C511F5B1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244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Datos persistentes en MySQL usando JPA, entidades y repositorios.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B9353-6298-4D1C-81EE-15513B68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781568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FFAA1-7F23-46A7-B5E3-0DAF810F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0C212-78CB-4DD2-A388-5991B638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3AE93-2944-4868-AE3A-026B7FFF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7433F-9E72-41F7-9CC8-4013732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ARQUITECTURA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BBF7B-B86E-42CD-917E-C405AF6D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03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A368D-41C8-403F-B0EF-48AAC8EF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291B8-FFC0-4698-B7D6-91FC7D5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Mapa general de Spring Boot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E7FF5-3205-44B0-970F-355A4208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Separaremos responsabilidades para que cada archivo tenga una funcion clara.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A7011-4AE5-4B62-9D52-D041F518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4288">
            <a:solidFill>
              <a:srgbClr val="245A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40B5C-D226-4D98-A257-454C2C40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A70"/>
                </a:solidFill>
              </a:defRPr>
            </a:pPr>
            <a:r>
              <a:rPr sz="1500" b="1">
                <a:solidFill>
                  <a:srgbClr val="245A70"/>
                </a:solidFill>
              </a:rPr>
              <a:t>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63E04-9157-4F52-B7EC-2A235F8D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HTML, CSS y 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190A7-BF51-43BC-A30E-A9DB58D9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5290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E69CD-52F3-4A39-BF6C-DD05C929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5EC"/>
          </a:solidFill>
          <a:ln xmlns:a="http://schemas.openxmlformats.org/drawingml/2006/main" w="14288">
            <a:solidFill>
              <a:srgbClr val="196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95326-B56F-4B54-8D46-37F0BBF9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43A"/>
                </a:solidFill>
              </a:defRPr>
            </a:pPr>
            <a:r>
              <a:rPr sz="1500" b="1">
                <a:solidFill>
                  <a:srgbClr val="19643A"/>
                </a:solidFill>
              </a:rP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670E2-6C2F-4F54-AC6A-B901A8A2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434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Rutas HTTP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5C9BB-11EE-4B21-807A-954DF9E9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344F8-BE40-4677-8C6F-62EABECB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F5DD"/>
          </a:solidFill>
          <a:ln xmlns:a="http://schemas.openxmlformats.org/drawingml/2006/main" w="14288">
            <a:solidFill>
              <a:srgbClr val="8A641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56441-D9EB-47F9-B962-D2C33BB5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43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A641A"/>
                </a:solidFill>
              </a:defRPr>
            </a:pPr>
            <a:r>
              <a:rPr sz="1500" b="1">
                <a:solidFill>
                  <a:srgbClr val="8A641A"/>
                </a:solidFill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FB0BF-9B74-4A90-94BA-0F35956E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434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Reglas de negocio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23578-5BCE-4B21-88FC-5D6E7B5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64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66AC6-BD06-4857-886A-F0EF00B6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DEA"/>
          </a:solidFill>
          <a:ln xmlns:a="http://schemas.openxmlformats.org/drawingml/2006/main" w="14288">
            <a:solidFill>
              <a:srgbClr val="E66B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8D5A7-E1F0-41C6-BA6C-3E404AC7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43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6B55"/>
                </a:solidFill>
              </a:defRPr>
            </a:pPr>
            <a:r>
              <a:rPr sz="1500" b="1">
                <a:solidFill>
                  <a:srgbClr val="E66B55"/>
                </a:solidFill>
              </a:rPr>
              <a:t>Repository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0D3476-014E-41BE-8AEC-8E309E62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434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Acceso a datos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0BEDCC-5F61-4FBB-BE62-177F635E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5290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842A9-A45E-4A66-84A8-537C2306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1475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FE9FA"/>
          </a:solidFill>
          <a:ln xmlns:a="http://schemas.openxmlformats.org/drawingml/2006/main" w="14288">
            <a:solidFill>
              <a:srgbClr val="8B72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D4DF8-2D11-4792-A9D7-AAFF5F52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43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72C9"/>
                </a:solidFill>
              </a:defRPr>
            </a:pPr>
            <a:r>
              <a:rPr sz="1500" b="1">
                <a:solidFill>
                  <a:srgbClr val="8B72C9"/>
                </a:solidFill>
              </a:rPr>
              <a:t>Entity + MySQL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99A865-808B-4286-80FC-6D7E067B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434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Modelo persistente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4EC6B-4C20-4BA0-AB8D-AC4AF0A2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389243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C32F2-50E0-44B0-A1BD-DDE84C6C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6982B-C6B1-430B-8201-186876E2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CC82B-0AA5-4B83-BEE7-09C3FC4F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17E15-4BBB-4310-8CBC-93FA9C03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FLUJO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6E035-93F5-4CE0-BC84-561192AA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04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F1D5D-11B8-4C06-B07A-01579CF3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94344-1E66-4528-BFE0-F35E657E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Como viaja una peticion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04F07-A08E-4ED3-801F-E6B567E3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Ejemplo: un auxiliar crea una cita desde la pantalla web.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B3B72-5655-41E4-9F3E-34AFD428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6667C-1C86-4BB1-B7C7-48B33046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07A4F-9695-4B0B-8EEF-D836DA2A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10D06-60E2-4AB1-B42B-E3AECCD8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Pantalla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83887-6CC0-4756-8DCC-8B5D4D21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El usuario rellena el formulario.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8DB3C-46D0-444A-9E93-6D0DE506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3380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D3281-53E8-4CFE-A198-23FF82F0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24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D8F1E-3BEB-4493-97E2-A12594A0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69325-74ED-4E8B-90E8-D9B49CF7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243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A64F1-7072-4DDE-9F27-6BCC985E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148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POST /api/citas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AFF20-5DDA-4465-B2BC-7100DDC0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577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El JS envia JSON al backend.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FFB42-AD91-4E89-B418-7EE66209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14F34-4F31-4388-BCB9-F041C5F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24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20F9E-8333-4373-A1BF-BDC8BDA1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385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80640-4821-47EF-B165-E0F16493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243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22AD3-A69A-4E63-8C22-5F90C640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148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CitaController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FD114-DCA4-41E1-8E17-BF82C2EB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577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Recibe y valida la peticion.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6D0F8-766B-41F5-B5BC-43C49F59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6E227-452B-4496-A4CC-80C21A43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E268ED-19CF-4945-96C8-10D4785C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EB1E1E-E03A-4B80-9AB9-BF8BAD6B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243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D96C26-E2BB-483F-ADED-82620F99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148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CitaService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0AE88-6BEB-4634-8D6D-41DA491D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577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Aplica reglas de negocio.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EE3A3B-A3B7-450D-9141-65E23AB6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3380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93496E-830D-4BD6-A82B-8BE28121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CEBD2C-EC1C-4996-BCDA-877579F1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385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92BE14-500F-459B-9CDF-0DDF64ED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0F98F9-10F0-49A1-B6AC-683C53D0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148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02A"/>
                </a:solidFill>
              </a:defRPr>
            </a:pPr>
            <a:r>
              <a:rPr sz="1350" b="1">
                <a:solidFill>
                  <a:srgbClr val="16202A"/>
                </a:solidFill>
              </a:rPr>
              <a:t>CitaRepository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BFA503-E956-407A-911F-B63DAB7D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577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Guarda la cita en MySQL.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FFE763-4B7F-4C50-835F-501B302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1314878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82984-05F5-4364-994B-A4699833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BC50-AD92-40F8-9556-8EBFE315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8E0AD-AA25-4DEB-8520-60AF19BE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52061-488E-434D-AA9D-2446C774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MAVEN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B10BF-211B-4E79-8A34-AB6BB43E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05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4A7F6-4E5E-45E9-A2C1-86DE8CFC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0550C-1A84-462F-9C7B-604EF7F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pom.xml: las herramientas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9462C-A8F8-46A6-A539-0148F3F6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Maven descarga dependencias y define como se compila y ejecuta la aplicacion.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C0199-8A94-4EBB-A75D-C297867B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3276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FD1F1-4390-4CDF-8002-DE77D727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9B730-7836-4B30-8062-0FD853D6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>
              <a:alpha val="13333"/>
            </a:srgbClr>
          </a:solidFill>
          <a:ln xmlns:a="http://schemas.openxmlformats.org/drawingml/2006/main" w="13335">
            <a:solidFill>
              <a:srgbClr val="37A8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E4E1A-6530-4FA0-A408-A3CD7653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7675F-A5F9-4D78-877C-60AE2CC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A866"/>
                </a:solidFill>
              </a:defRPr>
            </a:pPr>
            <a:r>
              <a:rPr sz="1200" b="1">
                <a:solidFill>
                  <a:srgbClr val="37A866"/>
                </a:solidFill>
              </a:rPr>
              <a:t>spring-boot-starter-web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6BD37-65C7-494B-AA4B-DDA3312C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Controladores REST, rutas HTTP y servidor embebido.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514F5-2E66-4336-B0F7-4BFDD998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276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C4649-A631-4486-A9F4-89AEFB36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A739C-EC23-45AE-8D82-9B95DD6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0">
              <a:alpha val="13333"/>
            </a:srgbClr>
          </a:solidFill>
          <a:ln xmlns:a="http://schemas.openxmlformats.org/drawingml/2006/main" w="13335">
            <a:solidFill>
              <a:srgbClr val="245A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4595B-DBD9-4A18-85BC-665F6F0E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0B0D0-0383-4EFB-8014-B646BC0F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A70"/>
                </a:solidFill>
              </a:defRPr>
            </a:pPr>
            <a:r>
              <a:rPr sz="1200" b="1">
                <a:solidFill>
                  <a:srgbClr val="245A70"/>
                </a:solidFill>
              </a:rPr>
              <a:t>spring-boot-starter-data-jpa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02EEF-078C-440C-AA0B-67D80B3E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Entidades, repositorios y conexion entre Java y MySQL.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F5850-730E-400B-8E5A-2EACD86F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276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C0B2C-E350-4D96-80FD-BC6C9E7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B00593-1907-4F81-A09A-7CC571D6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B55">
              <a:alpha val="13333"/>
            </a:srgbClr>
          </a:solidFill>
          <a:ln xmlns:a="http://schemas.openxmlformats.org/drawingml/2006/main" w="13335">
            <a:solidFill>
              <a:srgbClr val="E66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2E5BD-1741-48A6-944E-9E741DFB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0C2100-E453-4AE9-9E90-3A0C0747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6B55"/>
                </a:solidFill>
              </a:defRPr>
            </a:pPr>
            <a:r>
              <a:rPr sz="1200" b="1">
                <a:solidFill>
                  <a:srgbClr val="E66B55"/>
                </a:solidFill>
              </a:rPr>
              <a:t>spring-boot-starter-security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5A743-BA24-47A5-97BF-CA6B2D7C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244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Login, sesiones, permisos y proteccion de rutas.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657F68-F5BD-426F-A6EF-C7AF6C93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1133563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4B78C-C883-413B-BBFA-BA0AE381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8A427-3789-4156-969E-5DD267EF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810A4-6521-4AC5-B782-E946E998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BA5DE-AC16-469E-9F90-224A696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CONFIGURACION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7C05C-A32F-44E5-9D90-9AC2AA54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06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F527C-F4CA-4264-B7E2-46570532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B89B8-4ADE-46BB-8366-AEA73B1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application.properties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FF4EC-B017-4359-AA65-0155A8E2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Aqui definimos puerto, conexion a MySQL, JPA y ejecucion de SQL inicial.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A5359-4F7C-45E4-9799-7F9E3CEF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05727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3202A"/>
          </a:solidFill>
          <a:ln xmlns:a="http://schemas.openxmlformats.org/drawingml/2006/main" w="11430">
            <a:solidFill>
              <a:srgbClr val="245A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F7AD2-988D-4818-9E2B-9E4C3E37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077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server.port=8080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spring.datasource.url=jdbc:mysql://localhost:3306/clinica_veterinaria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spring.jpa.hibernate.ddl-auto=update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spring.sql.init.mode=always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C392F-8D9D-44BC-A342-525F97FC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36DB4-2157-4A46-87F0-B036DCA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85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FE3FE-999D-4F9D-A536-570B156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0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>
              <a:alpha val="13333"/>
            </a:srgbClr>
          </a:solidFill>
          <a:ln xmlns:a="http://schemas.openxmlformats.org/drawingml/2006/main" w="13335">
            <a:solidFill>
              <a:srgbClr val="37A8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3266B-2370-4FAF-8352-30759D0A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4370B-37F8-48A9-9A86-CFD7F118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816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A866"/>
                </a:solidFill>
              </a:defRPr>
            </a:pPr>
            <a:r>
              <a:rPr sz="1200" b="1">
                <a:solidFill>
                  <a:srgbClr val="37A866"/>
                </a:solidFill>
              </a:rPr>
              <a:t>8080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341A0-DAAC-49CB-A955-B897C4D1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91275"/>
            <a:ext cx="2362200" cy="-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Puerto donde se abre la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9011B-ACAF-47A5-B76D-BA457CD9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B8B15-6C83-45DA-B80B-C260A468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85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88B6D-23A7-4198-A7CA-C0834CD3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0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0">
              <a:alpha val="13333"/>
            </a:srgbClr>
          </a:solidFill>
          <a:ln xmlns:a="http://schemas.openxmlformats.org/drawingml/2006/main" w="13335">
            <a:solidFill>
              <a:srgbClr val="245A7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95555-D096-4AAA-8A54-00E82F30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934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C3188-78A5-4F95-A53C-07E2AC64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816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A70"/>
                </a:solidFill>
              </a:defRPr>
            </a:pPr>
            <a:r>
              <a:rPr sz="1200" b="1">
                <a:solidFill>
                  <a:srgbClr val="245A70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88187-D76E-4675-B7F2-EF5968A4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91275"/>
            <a:ext cx="2362200" cy="-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Base de datos del proyecto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0C3FB-EF7C-4A6C-A6AB-84F3CB4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721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FF4FE-4238-43ED-B75E-50945C28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72125"/>
            <a:ext cx="85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C26E0-3170-457E-95FB-BDD4716C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0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84B">
              <a:alpha val="13333"/>
            </a:srgbClr>
          </a:solidFill>
          <a:ln xmlns:a="http://schemas.openxmlformats.org/drawingml/2006/main" w="13335">
            <a:solidFill>
              <a:srgbClr val="E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22B1B-B142-4E7F-9B74-2ED3D6B5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8251A3-B579-4F42-910B-69115484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7816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</a:defRPr>
            </a:pPr>
            <a:r>
              <a:rPr sz="1200" b="1">
                <a:solidFill>
                  <a:srgbClr val="1620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9795FD-B41B-4F5E-A8B5-EEC29ADC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391275"/>
            <a:ext cx="2362200" cy="-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Hibernate actualiza tablas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A3D254-52EB-4FC7-B2FB-DFCE7AD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767982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2CE10-42B5-488E-B6C6-331204A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BFFF5-9B61-4DAD-ACF7-39F691F8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A5DA4-710F-46FE-97A6-2AA2724D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1E88F-4370-425C-9EA5-F65F43AA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MODELO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D71D2-F684-4D9F-B16C-1BD1C1EB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07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ED883-703F-49DF-84C0-5EFDC034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89AEF-3C88-4BDD-B61A-CC2D6011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Entidades y base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92ACC-5AC4-4850-B59B-CAB60295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Las entidades Java representan tablas y campos que Hibernate puede crear o actualizar.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66916-DB95-44F7-84A0-259AABE5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1AE00-726D-4A82-B6D9-34278303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718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Entidad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ADCAA-6654-4D03-9027-0D152E2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67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FE94F-E646-487B-9C82-B8FC82C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718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Tabla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8A73A-0C6E-48CE-B9F0-0E1D5241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67050"/>
            <a:ext cx="581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A8410-B4E3-491E-A80A-9B3C6DBD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71825"/>
            <a:ext cx="554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Funcion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BB2DF-8BA5-4850-AC04-FBEAD149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63BDC-A5E7-4EC7-B762-395B442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Usuario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1BB54-42F4-43C9-B3F5-737A1D34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861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22C48-003E-4421-BF3F-71BA286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909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usuarios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0E02E-8FA1-412B-86DE-5693CCD9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581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8F87E-0497-49BA-8334-4E5F76BC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90925"/>
            <a:ext cx="554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Login y datos de cuenta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30F3E-2AA3-4F9A-95CB-EC5C8D56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F4FAB-3F3B-47B4-9F38-D1A78F8D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00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EF7B22-D44F-49D4-9EA8-842CA032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052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CF4CA-3897-40C0-86EB-69E52C23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100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roles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C09C1-E7BD-4773-B9F6-06C072FE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581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4548B-C6ED-483F-8C50-1B840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10025"/>
            <a:ext cx="554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Perfil de acceso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203FE-39ED-466B-B180-D566C6F0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EE73A5-FE36-49A1-AF7D-1F3B2F4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291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Cita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296E42-D477-46DF-A8DA-E62F4DB7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243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6D3BBA-349F-44FF-ACDE-555B9091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291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citas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568C74-0D5B-43F6-84F1-7EA4A773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24350"/>
            <a:ext cx="581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E9CA21-38C3-49BF-A957-6A2866F3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29125"/>
            <a:ext cx="554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Agenda clinica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51E6B8-7AE0-4A49-B882-F4E4D506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2E010-E6B4-4AFA-8F2E-A7898C79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482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Mascota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3D34D7-ACC4-4669-9EB0-198EF66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434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9F9EF0-F3A4-42CE-9CEF-FEF423E3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482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mascotas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0AFCD3-CCA0-4B7A-A24D-7E00AE4E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43450"/>
            <a:ext cx="581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CC7312-B764-415D-8A09-266763FD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48225"/>
            <a:ext cx="554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Datos del animal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1B3E9D-78CB-47C7-9D0C-756EE4B7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8D9B87-7693-4C00-B55A-A6CC39BC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Pago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8CD06E-9C6E-451D-BC17-E9157264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625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063BEE-13EF-4E43-AAA6-72B2E66B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673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pagos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5CB9CB-CCDF-485B-A871-FF4E0539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62550"/>
            <a:ext cx="581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202B6A-4797-47A8-B24D-1CFDA6EF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67325"/>
            <a:ext cx="554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Estado economico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F8633E-D701-4262-AF17-55A69347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43A"/>
                </a:solidFill>
              </a:defRPr>
            </a:pPr>
            <a:r>
              <a:rPr sz="1500" b="1">
                <a:solidFill>
                  <a:srgbClr val="19643A"/>
                </a:solidFill>
              </a:rPr>
              <a:t>@Entity + @Table + @Id convierten clases Java en datos persistentes.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0DCB18-FA33-4728-AAE2-72B38DE7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818844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FB839-80F6-46FD-BCCD-EECFF745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14C01-AB82-4F39-834E-88398D71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8CE0B-DBDC-4588-823E-9484ADC9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7A056-41B8-4E1D-A395-D742C52B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0FF8D-2121-4933-B7FD-2CF17212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08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82F1C-1C6F-4B1D-B6DC-66C49AA3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08ED9-39AF-4AC3-ABC7-0A9FC9F3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Repositorios: consultas sin SQL repetido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CE035-CD99-43D1-A835-AF5E5AE4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Spring Data JPA genera operaciones comunes y permite definir busquedas por nombre de metodo.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E97D6-C5A1-4986-9BA7-DC0828D5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05727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3202A"/>
          </a:solidFill>
          <a:ln xmlns:a="http://schemas.openxmlformats.org/drawingml/2006/main" w="11430">
            <a:solidFill>
              <a:srgbClr val="245A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61260-5549-4F2A-9AA4-6A880091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077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public interface UsuarioRepository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        extends JpaRepository&lt;Usuario, Long&gt; {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    Optional&lt;Usuario&gt; findByUsername(String username);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139A4-F909-4B6F-9859-E2AE1A1B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B542A-0C70-4382-BC67-5F88213A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85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FB308-C290-4038-8EB3-63FCA308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0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>
              <a:alpha val="13333"/>
            </a:srgbClr>
          </a:solidFill>
          <a:ln xmlns:a="http://schemas.openxmlformats.org/drawingml/2006/main" w="13335">
            <a:solidFill>
              <a:srgbClr val="37A8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75B52-6CE9-40B5-BF89-DC2C77D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F81A1-407C-44F9-A516-F6F21E4F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816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A866"/>
                </a:solidFill>
              </a:defRPr>
            </a:pPr>
            <a:r>
              <a:rPr sz="1200" b="1">
                <a:solidFill>
                  <a:srgbClr val="37A866"/>
                </a:solidFill>
              </a:rPr>
              <a:t>8080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84C66-CA84-44AF-8763-BBC0BBD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91275"/>
            <a:ext cx="2362200" cy="-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Puerto donde se abre la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83BDD-2535-4AFE-83C9-F17A41E3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54669-50C5-4F59-919C-FECD336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85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22991-0605-4F4D-ABF1-36AE7EE1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0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0">
              <a:alpha val="13333"/>
            </a:srgbClr>
          </a:solidFill>
          <a:ln xmlns:a="http://schemas.openxmlformats.org/drawingml/2006/main" w="13335">
            <a:solidFill>
              <a:srgbClr val="245A7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FE818-145C-463C-8BC9-2471BA61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934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231E0-4718-447D-9C7C-6EBF087A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816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A70"/>
                </a:solidFill>
              </a:defRPr>
            </a:pPr>
            <a:r>
              <a:rPr sz="1200" b="1">
                <a:solidFill>
                  <a:srgbClr val="245A70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8FCB2-AD88-45CE-8A0E-0D69021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91275"/>
            <a:ext cx="2362200" cy="-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Base de datos del proyecto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9B637-AC28-4FE6-A2CB-977968A8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721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DD7FA-E67A-434A-94A5-AC83F9F4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72125"/>
            <a:ext cx="85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135C6-239D-45C2-84B3-62829327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0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84B">
              <a:alpha val="13333"/>
            </a:srgbClr>
          </a:solidFill>
          <a:ln xmlns:a="http://schemas.openxmlformats.org/drawingml/2006/main" w="13335">
            <a:solidFill>
              <a:srgbClr val="E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C50D4-5106-47A1-9783-150C961D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08DEE-C53F-4033-987F-ECCAC7FE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7816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</a:defRPr>
            </a:pPr>
            <a:r>
              <a:rPr sz="1200" b="1">
                <a:solidFill>
                  <a:srgbClr val="1620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593F11-357E-4365-B589-14FEE87F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391275"/>
            <a:ext cx="2362200" cy="-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Hibernate actualiza tablas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11B02-73AA-4A3B-8DE6-60D9CC72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43564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70B01-B4CC-4A5B-96C3-2098EA3C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7037D-5687-47F4-8EF4-73B2108C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B7658-301A-4914-8A27-F9D49078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CDE74-46A2-473A-B977-4DDBA520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54F79-9B87-443E-9BB6-3546BCB5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09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59EA3-097A-4806-818E-3B8A0A6A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67FD8-5144-4773-9146-56B17962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Servicios: reglas de negocio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BB523-E842-415B-82B0-16F07D9E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La capa service decide que se puede hacer, valida datos y coordina repositorios.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DDD06-B93E-4409-A9A9-0839E4E5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3276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40D73-CBC9-4C44-8073-D5E4EBCE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A26C5-4A56-4C59-9CC9-F12F5F47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>
              <a:alpha val="13333"/>
            </a:srgbClr>
          </a:solidFill>
          <a:ln xmlns:a="http://schemas.openxmlformats.org/drawingml/2006/main" w="13335">
            <a:solidFill>
              <a:srgbClr val="37A8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42CCE-B036-41AA-8097-BD5C64FD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1E07C-5363-493E-9B9A-B69BC738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A866"/>
                </a:solidFill>
              </a:defRPr>
            </a:pPr>
            <a:r>
              <a:rPr sz="1200" b="1">
                <a:solidFill>
                  <a:srgbClr val="37A866"/>
                </a:solidFill>
              </a:rPr>
              <a:t>Validar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0CA62-50EA-4F7E-A2D5-6A62D2F4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Comprobar que una cita tiene fecha, motivo y datos coherentes.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9266A-672B-4DE1-A302-1B44FFDE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276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7DE4B-DA85-4069-A70F-DC4DE73A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62BB1-EA13-4743-9BE0-1A62A56B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0">
              <a:alpha val="13333"/>
            </a:srgbClr>
          </a:solidFill>
          <a:ln xmlns:a="http://schemas.openxmlformats.org/drawingml/2006/main" w="13335">
            <a:solidFill>
              <a:srgbClr val="245A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F0166-AE3E-49C9-949B-7C9D91D3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B7E8E-B3F7-4DA9-9FD9-F510A179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A70"/>
                </a:solidFill>
              </a:defRPr>
            </a:pPr>
            <a:r>
              <a:rPr sz="1200" b="1">
                <a:solidFill>
                  <a:srgbClr val="245A70"/>
                </a:solidFill>
              </a:rPr>
              <a:t>Coordinar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A74A1-923C-453B-896B-9C3A2B64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Usar varios repositorios si una accion afecta a varias tablas.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03AA6-9B38-4DC5-AD9A-AF4981AD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276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E835B-3027-4ACB-BE5D-B93D5C2E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11B16-AE46-4C8F-8B2E-85631F19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B55">
              <a:alpha val="13333"/>
            </a:srgbClr>
          </a:solidFill>
          <a:ln xmlns:a="http://schemas.openxmlformats.org/drawingml/2006/main" w="13335">
            <a:solidFill>
              <a:srgbClr val="E66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044AB-9542-49E1-B956-E1A79216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4F484-F034-459E-B3C8-DC25569B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6B55"/>
                </a:solidFill>
              </a:defRPr>
            </a:pPr>
            <a:r>
              <a:rPr sz="1200" b="1">
                <a:solidFill>
                  <a:srgbClr val="E66B55"/>
                </a:solidFill>
              </a:rPr>
              <a:t>Centralizar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0E4AA-6467-4C71-814A-BCEA2448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244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Evitar que los controladores tengan reglas duplicadas.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2F390-F45C-469A-B527-96E5D9F6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1640757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DFC3B-A030-44C0-A67F-24B3DC37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D4863-EF44-49F0-B4A8-5992A76C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B2CB3-738A-45C9-A2E0-5EABAEDD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6E338-6979-4077-954A-5DF9E079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C4629-4B3C-4F47-A970-D545BBAD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46C08-DAF8-41F1-800B-50B45970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CED76-80DC-4E06-9042-40711AF6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Controladores y API 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39EA7-9E6C-4017-8E77-FD01A87F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Los controladores reciben peticiones HTTP y devuelven respuestas para el frontend.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19EFF-6494-43A1-A9A9-5BC083D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05727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3202A"/>
          </a:solidFill>
          <a:ln xmlns:a="http://schemas.openxmlformats.org/drawingml/2006/main" w="11430">
            <a:solidFill>
              <a:srgbClr val="245A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FF717-2D23-4388-B880-6048C7DC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077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@RestController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@RequestMapping("/api/citas")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public class CitaController {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    @PostMapping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    public ResponseEntity&lt;?&gt; crear(@RequestBody CitaRequest request) { ... }</a:t>
            </a:r>
          </a:p>
          <a:p xmlns:a="http://schemas.openxmlformats.org/drawingml/2006/main">
            <a:pPr algn="l">
              <a:defRPr sz="1425" b="0">
                <a:solidFill>
                  <a:srgbClr val="E9FFF1"/>
                </a:solidFill>
              </a:defRPr>
            </a:pPr>
            <a:r>
              <a:rPr sz="1425" b="0">
                <a:solidFill>
                  <a:srgbClr val="E9FFF1"/>
                </a:solidFill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80470-3949-49EF-B619-B4F03C05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F417B-23C1-40F9-AEA2-07EF2B3B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85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4F385-61B8-4255-BFB9-4793C74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0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>
              <a:alpha val="13333"/>
            </a:srgbClr>
          </a:solidFill>
          <a:ln xmlns:a="http://schemas.openxmlformats.org/drawingml/2006/main" w="13335">
            <a:solidFill>
              <a:srgbClr val="37A8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BD495-E80E-4966-8EFC-B58CB524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B5132-C11C-4A3C-BA63-58B566B1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816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7A866"/>
                </a:solidFill>
              </a:defRPr>
            </a:pPr>
            <a:r>
              <a:rPr sz="1200" b="1">
                <a:solidFill>
                  <a:srgbClr val="37A866"/>
                </a:solidFill>
              </a:rPr>
              <a:t>8080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C47A5-D922-477A-996F-5850A158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91275"/>
            <a:ext cx="2362200" cy="-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Puerto donde se abre la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76CE6-CEF1-485D-9290-6650FDF4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30120-7B6E-4427-95B5-BA2D0301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85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EAA3D-39E6-4034-8A12-7CB04666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0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0">
              <a:alpha val="13333"/>
            </a:srgbClr>
          </a:solidFill>
          <a:ln xmlns:a="http://schemas.openxmlformats.org/drawingml/2006/main" w="13335">
            <a:solidFill>
              <a:srgbClr val="245A7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F9527-EA96-4777-B78C-D2265AC6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934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136F9-EF57-477F-A7D5-7313DDD8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816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A70"/>
                </a:solidFill>
              </a:defRPr>
            </a:pPr>
            <a:r>
              <a:rPr sz="1200" b="1">
                <a:solidFill>
                  <a:srgbClr val="245A70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A3651-0F2B-4875-9B53-D278A13D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391275"/>
            <a:ext cx="2362200" cy="-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Base de datos del proyecto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5E375-15AC-4AA1-8380-50BF4306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7212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EDDE1-DCAB-423D-8897-2641EFE0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72125"/>
            <a:ext cx="85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F9012-EC24-4A1D-BB0E-97D372A1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0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84B">
              <a:alpha val="13333"/>
            </a:srgbClr>
          </a:solidFill>
          <a:ln xmlns:a="http://schemas.openxmlformats.org/drawingml/2006/main" w="13335">
            <a:solidFill>
              <a:srgbClr val="E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0A7E7-3BD7-430D-816B-4B5AC9B0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5FD32-653D-45BC-8171-405B4790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7816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</a:defRPr>
            </a:pPr>
            <a:r>
              <a:rPr sz="1200" b="1">
                <a:solidFill>
                  <a:srgbClr val="1620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31A525-EEF3-447E-A5C2-9B27887A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391275"/>
            <a:ext cx="2362200" cy="-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24F"/>
                </a:solidFill>
              </a:defRPr>
            </a:pPr>
            <a:r>
              <a:rPr sz="1350" b="0">
                <a:solidFill>
                  <a:srgbClr val="35424F"/>
                </a:solidFill>
              </a:rPr>
              <a:t>Hibernate actualiza tablas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2F79E3-F984-4A87-B1FD-BE19AF56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1979438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04FD4-0BF2-4E9B-A322-B1078A59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1C9A2-DF5F-4259-AE0C-815AD9F8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C41E3-EE23-4DA3-A1E8-CDEEECC7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E83C9-EEF1-4F84-82AC-DE593A8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8A49C-BB1C-4F18-BF19-F54CFCEB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F44F9-B591-4A17-8B74-23B70A0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435C6-9599-4152-B533-F8256E2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Login, rutas protegidas y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8130D-3FD0-4336-BCC0-CD96BD25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Spring Security decide quien puede entrar en cada zona de la aplicacion.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2DB31-D009-4F8D-877E-9134773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43A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00844-034E-4423-B5CC-D8820575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Ruta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B6E49-45E4-461A-B4B5-2F83D6F2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43A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B7CF2-0957-48A9-A923-212D7FA6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537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Roles permitidos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6BE77-2DBD-4CD0-99C3-8412932D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80EA6-B6DC-4B03-8537-CE10AA2F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/admin/**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D429F-1263-4C94-B6EA-CC079F1C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66615-30DF-4E5C-ABFC-29E2CBC4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29050"/>
            <a:ext cx="537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5A5C9-A1FF-4DBC-BF76-BAAB068A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56291-F191-4569-93AA-3B8EF945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/auxiliar/**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1B414-A8DB-4A1C-B1F2-4A33B138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4AA4D-0B02-47F0-9DAD-39334002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86250"/>
            <a:ext cx="537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ADMIN, AUXILIAR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87B88-01E7-4D66-86D6-2FF7A0AA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B8425-9AF9-4B92-A42B-1019C517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/veterinario/**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7E9507-0FC4-490B-8CFD-5A6A97BE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01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578EE-B108-4A9B-8CE8-64C4B93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537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ADMIN, VETERINARIO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ED6F9-9F16-445F-A1C6-7FE9A009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0A00F7-95E0-43FE-B0AE-3DA638BD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006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/cliente/**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550B30-5170-4D6D-8825-4F43B98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673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6EB7C-90A8-4070-AFBB-BA770DCF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00650"/>
            <a:ext cx="537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24F"/>
                </a:solidFill>
              </a:defRPr>
            </a:pPr>
            <a:r>
              <a:rPr sz="1200" b="0">
                <a:solidFill>
                  <a:srgbClr val="35424F"/>
                </a:solidFill>
              </a:rPr>
              <a:t>ADMIN, CLIENTE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43551-DDE4-46E6-A539-4168EB31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14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F5DD"/>
          </a:solidFill>
          <a:ln xmlns:a="http://schemas.openxmlformats.org/drawingml/2006/main" w="11430">
            <a:solidFill>
              <a:srgbClr val="E2B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D16BE9-7C61-4919-A14B-0913FB3C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866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</a:defRPr>
            </a:pPr>
            <a:r>
              <a:rPr sz="1275" b="1">
                <a:solidFill>
                  <a:srgbClr val="16202A"/>
                </a:solidFill>
              </a:rPr>
              <a:t>Pendiente recomendado: relacion usuarios_roles para asignar permisos reales por usuario.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6E0D1C-3066-409C-ACC6-87A7B2C9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14208999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4D8F7-F1E0-4361-B1E5-4077F9DD7C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B094D-A56D-4168-8D56-FB348502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69847-7511-4ED1-9B7D-7C5CEACD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6CCF2-0F6D-4710-A9FB-08EB8E6C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8B48B-40D7-4DC9-9EF3-8A9BC28E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643A"/>
                </a:solidFill>
              </a:defRPr>
            </a:pPr>
            <a:r>
              <a:rPr sz="975" b="1">
                <a:solidFill>
                  <a:srgbClr val="19643A"/>
                </a:solidFill>
              </a:rPr>
              <a:t>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01E77-61FF-4987-8559-5DCDB888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A70"/>
                </a:solidFill>
              </a:defRPr>
            </a:pPr>
            <a:r>
              <a:rPr sz="975" b="1">
                <a:solidFill>
                  <a:srgbClr val="245A70"/>
                </a:solidFill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B58D9-34D7-49EF-B33F-61F836A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75BB5-D0F4-4175-A3C9-6DC7359E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</a:defRPr>
            </a:pPr>
            <a:r>
              <a:rPr sz="2850" b="1">
                <a:solidFill>
                  <a:srgbClr val="16202A"/>
                </a:solidFill>
              </a:rPr>
              <a:t>Como trabajaremos cada funcion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4EDEC-2D99-4284-B3A3-639B657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24F"/>
                </a:solidFill>
              </a:defRPr>
            </a:pPr>
            <a:r>
              <a:rPr sz="1425" b="0">
                <a:solidFill>
                  <a:srgbClr val="35424F"/>
                </a:solidFill>
              </a:rPr>
              <a:t>Cada nueva funcionalidad seguira el mismo camino para mantener el proyecto ordenado.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64877-2E0A-499B-B171-27795C8F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8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B728A-0AF1-4246-A18A-52294FC0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1375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BB63E-1B15-4227-B822-F5F26AED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4FC93-9CD4-46B9-91FD-81336AB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A866"/>
                </a:solidFill>
              </a:defRPr>
            </a:pPr>
            <a:r>
              <a:rPr sz="1275" b="1">
                <a:solidFill>
                  <a:srgbClr val="37A866"/>
                </a:solidFill>
              </a:rPr>
              <a:t>Entidad o DTO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00B61-5DCD-4A96-A405-F315E049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Definir los datos que entran y salen.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FA9B7-EBDB-40D5-8106-9BCE10EF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290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F5930-27D5-401E-AF50-416FB73F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8CB22-713A-4CB8-BA1A-24EF511F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81375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E66F5-534A-4959-8049-2A4EB7C3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529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DB62E-F9BB-4104-AC47-9BD4F406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62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A70"/>
                </a:solidFill>
              </a:defRPr>
            </a:pPr>
            <a:r>
              <a:rPr sz="1275" b="1">
                <a:solidFill>
                  <a:srgbClr val="245A70"/>
                </a:solidFill>
              </a:rPr>
              <a:t>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DEF33-BB28-49BF-A3F3-CF0199CD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053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Crear acceso a base de datos.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45FCE-DCDF-407C-BA4F-56F5B24A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C11C1-F99B-4AFB-B820-87D7D99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C4887-7B52-41BB-966C-F88CC381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81375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2BD80-02D9-4754-BCAA-CE1C5CE3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529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05C04-5A03-4B7B-8250-56123CCC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62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B84B"/>
                </a:solidFill>
              </a:defRPr>
            </a:pPr>
            <a:r>
              <a:rPr sz="1275" b="1">
                <a:solidFill>
                  <a:srgbClr val="E2B84B"/>
                </a:solidFill>
              </a:rPr>
              <a:t>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22929-60F0-4411-B0D3-A4BE890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053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Programar reglas de negocio.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4D456E-A799-489A-BE06-A878C82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3011C-B0EA-4D08-B887-B5CBB29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98068-1C48-4C7B-A2AC-7AA10C60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381375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1B36C-7B05-44A7-ADA2-44231074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1529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97E2D9-08E7-407E-8530-CA926628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62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6B55"/>
                </a:solidFill>
              </a:defRPr>
            </a:pPr>
            <a:r>
              <a:rPr sz="1275" b="1">
                <a:solidFill>
                  <a:srgbClr val="E66B55"/>
                </a:solidFill>
              </a:rPr>
              <a:t>Controller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8DCDC-8967-4667-AAC8-0FA0EF33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053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Exponer endpoints para el frontend.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AF4F48-ABD9-4AB1-86FD-2C9F809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290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4E798B-0A38-402D-970A-485C2C00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A8571E-08D7-4B4B-B8B3-172814D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81375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F52A46-FA8D-412B-AF30-3A5E0B85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529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08F2C8-D84C-4125-8FF8-BBC5F647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62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72C9"/>
                </a:solidFill>
              </a:defRPr>
            </a:pPr>
            <a:r>
              <a:rPr sz="1275" b="1">
                <a:solidFill>
                  <a:srgbClr val="8B72C9"/>
                </a:solidFill>
              </a:rPr>
              <a:t>Frontend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03282D-EB72-48DC-82F8-A7408BF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053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24F"/>
                </a:solidFill>
              </a:defRPr>
            </a:pPr>
            <a:r>
              <a:rPr sz="1050" b="0">
                <a:solidFill>
                  <a:srgbClr val="35424F"/>
                </a:solidFill>
              </a:rPr>
              <a:t>Consumir la API y mostrar resultados.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C0333-EAB9-4C17-94C7-D38559B1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102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643A"/>
                </a:solidFill>
              </a:defRPr>
            </a:pPr>
            <a:r>
              <a:rPr sz="1650" b="1">
                <a:solidFill>
                  <a:srgbClr val="19643A"/>
                </a:solidFill>
              </a:rPr>
              <a:t>Receta para avanzar: crear una funcion pequena, probarla y repetir el patron.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8EB679-4452-48A3-AE2E-35E27931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782"/>
                </a:solidFill>
              </a:defRPr>
            </a:pPr>
            <a:r>
              <a:rPr sz="750" b="0">
                <a:solidFill>
                  <a:srgbClr val="6D7782"/>
                </a:solidFill>
              </a:rPr>
              <a:t>Proyecto clinica veterinaria - Spring Boot</a:t>
            </a:r>
          </a:p>
        </p:txBody>
      </p:sp>
    </p:spTree>
    <p:extLst>
      <p:ext uri="{BB962C8B-B14F-4D97-AF65-F5344CB8AC3E}">
        <p14:creationId xmlns:p14="http://schemas.microsoft.com/office/powerpoint/2010/main" val="1123959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2026-04-20T18:08:44.6900000Z</dcterms:created>
  <dcterms:modified xsi:type="dcterms:W3CDTF">2026-04-20T18:08:44.6910000Z</dcterms:modified>
</coreProperties>
</file>